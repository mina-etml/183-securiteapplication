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25"/>
  </p:notesMasterIdLst>
  <p:sldIdLst>
    <p:sldId id="302" r:id="rId5"/>
    <p:sldId id="319" r:id="rId6"/>
    <p:sldId id="306" r:id="rId7"/>
    <p:sldId id="413" r:id="rId8"/>
    <p:sldId id="423" r:id="rId9"/>
    <p:sldId id="414" r:id="rId10"/>
    <p:sldId id="415" r:id="rId11"/>
    <p:sldId id="387" r:id="rId12"/>
    <p:sldId id="416" r:id="rId13"/>
    <p:sldId id="417" r:id="rId14"/>
    <p:sldId id="418" r:id="rId15"/>
    <p:sldId id="421" r:id="rId16"/>
    <p:sldId id="385" r:id="rId17"/>
    <p:sldId id="422" r:id="rId18"/>
    <p:sldId id="424" r:id="rId19"/>
    <p:sldId id="419" r:id="rId20"/>
    <p:sldId id="420" r:id="rId21"/>
    <p:sldId id="425" r:id="rId22"/>
    <p:sldId id="403" r:id="rId23"/>
    <p:sldId id="347" r:id="rId24"/>
  </p:sldIdLst>
  <p:sldSz cx="12192000" cy="6858000"/>
  <p:notesSz cx="6858000" cy="9144000"/>
  <p:embeddedFontLs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Daytona Light" panose="020B0304030503040204" pitchFamily="34" charset="0"/>
      <p:regular r:id="rId30"/>
      <p:italic r:id="rId31"/>
    </p:embeddedFont>
    <p:embeddedFont>
      <p:font typeface="Helvetica" panose="020B0604020202020204" pitchFamily="34" charset="0"/>
      <p:regular r:id="rId32"/>
      <p:bold r:id="rId33"/>
      <p:italic r:id="rId34"/>
      <p:boldItalic r:id="rId3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02"/>
            <p14:sldId id="319"/>
            <p14:sldId id="306"/>
            <p14:sldId id="413"/>
            <p14:sldId id="423"/>
            <p14:sldId id="414"/>
            <p14:sldId id="415"/>
            <p14:sldId id="387"/>
            <p14:sldId id="416"/>
            <p14:sldId id="417"/>
            <p14:sldId id="418"/>
            <p14:sldId id="421"/>
            <p14:sldId id="385"/>
            <p14:sldId id="422"/>
            <p14:sldId id="424"/>
            <p14:sldId id="419"/>
            <p14:sldId id="420"/>
            <p14:sldId id="425"/>
            <p14:sldId id="403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0000"/>
    <a:srgbClr val="AD2B33"/>
    <a:srgbClr val="333333"/>
    <a:srgbClr val="004595"/>
    <a:srgbClr val="F5F7FA"/>
    <a:srgbClr val="66AEDD"/>
    <a:srgbClr val="EDEDE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606" autoAdjust="0"/>
  </p:normalViewPr>
  <p:slideViewPr>
    <p:cSldViewPr snapToGrid="0">
      <p:cViewPr varScale="1">
        <p:scale>
          <a:sx n="82" d="100"/>
          <a:sy n="82" d="100"/>
        </p:scale>
        <p:origin x="16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Melly" userId="a7718738-f2aa-4d1b-bcf4-5a9c900fe107" providerId="ADAL" clId="{E095D4C9-8500-44E0-A0D8-B852C247C627}"/>
    <pc:docChg chg="custSel modSld">
      <pc:chgData name="Jonathan Melly" userId="a7718738-f2aa-4d1b-bcf4-5a9c900fe107" providerId="ADAL" clId="{E095D4C9-8500-44E0-A0D8-B852C247C627}" dt="2025-12-10T13:15:46.405" v="16" actId="20577"/>
      <pc:docMkLst>
        <pc:docMk/>
      </pc:docMkLst>
      <pc:sldChg chg="modSp mod">
        <pc:chgData name="Jonathan Melly" userId="a7718738-f2aa-4d1b-bcf4-5a9c900fe107" providerId="ADAL" clId="{E095D4C9-8500-44E0-A0D8-B852C247C627}" dt="2025-12-10T13:14:10.945" v="0" actId="6549"/>
        <pc:sldMkLst>
          <pc:docMk/>
          <pc:sldMk cId="3654359519" sldId="302"/>
        </pc:sldMkLst>
        <pc:spChg chg="mod">
          <ac:chgData name="Jonathan Melly" userId="a7718738-f2aa-4d1b-bcf4-5a9c900fe107" providerId="ADAL" clId="{E095D4C9-8500-44E0-A0D8-B852C247C627}" dt="2025-12-10T13:14:10.945" v="0" actId="6549"/>
          <ac:spMkLst>
            <pc:docMk/>
            <pc:sldMk cId="3654359519" sldId="302"/>
            <ac:spMk id="3" creationId="{3B9501AA-B74D-4416-BEFC-D9228B665E9E}"/>
          </ac:spMkLst>
        </pc:spChg>
      </pc:sldChg>
      <pc:sldChg chg="modSp mod">
        <pc:chgData name="Jonathan Melly" userId="a7718738-f2aa-4d1b-bcf4-5a9c900fe107" providerId="ADAL" clId="{E095D4C9-8500-44E0-A0D8-B852C247C627}" dt="2025-12-10T13:14:26.864" v="14" actId="20577"/>
        <pc:sldMkLst>
          <pc:docMk/>
          <pc:sldMk cId="3779150562" sldId="319"/>
        </pc:sldMkLst>
        <pc:spChg chg="mod">
          <ac:chgData name="Jonathan Melly" userId="a7718738-f2aa-4d1b-bcf4-5a9c900fe107" providerId="ADAL" clId="{E095D4C9-8500-44E0-A0D8-B852C247C627}" dt="2025-12-10T13:14:26.864" v="14" actId="20577"/>
          <ac:spMkLst>
            <pc:docMk/>
            <pc:sldMk cId="3779150562" sldId="319"/>
            <ac:spMk id="3" creationId="{ECDD8913-80D5-66C0-DE37-D654360A75C4}"/>
          </ac:spMkLst>
        </pc:spChg>
      </pc:sldChg>
      <pc:sldChg chg="modSp mod">
        <pc:chgData name="Jonathan Melly" userId="a7718738-f2aa-4d1b-bcf4-5a9c900fe107" providerId="ADAL" clId="{E095D4C9-8500-44E0-A0D8-B852C247C627}" dt="2025-12-10T13:15:46.405" v="16" actId="20577"/>
        <pc:sldMkLst>
          <pc:docMk/>
          <pc:sldMk cId="4023686830" sldId="425"/>
        </pc:sldMkLst>
        <pc:spChg chg="mod">
          <ac:chgData name="Jonathan Melly" userId="a7718738-f2aa-4d1b-bcf4-5a9c900fe107" providerId="ADAL" clId="{E095D4C9-8500-44E0-A0D8-B852C247C627}" dt="2025-12-10T13:15:46.405" v="16" actId="20577"/>
          <ac:spMkLst>
            <pc:docMk/>
            <pc:sldMk cId="4023686830" sldId="425"/>
            <ac:spMk id="8" creationId="{41594580-8484-FF61-2ADC-48D967878D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10.12.2025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052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192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Cross-site Scripting (XSS) </a:t>
            </a:r>
            <a:r>
              <a:rPr lang="fr-FR" b="1" dirty="0"/>
              <a:t>consiste à utiliser une plateforme web vulnérable pour introduire un script malveillant aux internautes</a:t>
            </a:r>
            <a:r>
              <a:rPr lang="fr-FR" dirty="0"/>
              <a:t>. Les cybercriminels injectent leur code malveillant au site web légitime, escroquant ainsi les navigateurs pour que le malware s'active lors de chaque visite du site.</a:t>
            </a:r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94869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Cross-site Scripting (XSS) </a:t>
            </a:r>
            <a:r>
              <a:rPr lang="fr-FR" b="1" dirty="0"/>
              <a:t>consiste à utiliser une plateforme web vulnérable pour introduire un script malveillant aux internautes</a:t>
            </a:r>
            <a:r>
              <a:rPr lang="fr-FR" dirty="0"/>
              <a:t>. Les cybercriminels injectent leur code malveillant au site web légitime, escroquant ainsi les navigateurs pour que le malware s'active lors de chaque visite du site.</a:t>
            </a:r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40925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Faire un schéma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6372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814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5348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17366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793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Demander aux élèves… mais pourquoi fait-on ca…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40963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0690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223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3407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56307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err="1"/>
              <a:t>ass</a:t>
            </a:r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22296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1163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65448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02263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10.12.2025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10.12.2025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10.12.2025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10.12.2025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10.12.2025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10.12.2025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10.12.2025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10.12.2025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10.12.2025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10.12.2025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10.12.2025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Cross-Site Scripting (XSS)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0C7FA8DF-1B0E-88A1-396D-5D01DEF3B181}"/>
              </a:ext>
            </a:extLst>
          </p:cNvPr>
          <p:cNvSpPr/>
          <p:nvPr/>
        </p:nvSpPr>
        <p:spPr>
          <a:xfrm>
            <a:off x="0" y="6705600"/>
            <a:ext cx="6096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l’activité,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Expliquez le principe de fonctionnement d’une faille XSS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Connaître les bonnes pratiques à appliquer pour prévenir une attaque XSS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87FF040F-B248-94EE-612C-BA12F773C727}"/>
              </a:ext>
            </a:extLst>
          </p:cNvPr>
          <p:cNvSpPr/>
          <p:nvPr/>
        </p:nvSpPr>
        <p:spPr>
          <a:xfrm>
            <a:off x="0" y="6705600"/>
            <a:ext cx="12192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915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LE PRINCIPE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/>
              <a:t>Comment ça fonctionne ?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312625D5-4234-3CF1-6EC4-376CC2ABF2B4}"/>
              </a:ext>
            </a:extLst>
          </p:cNvPr>
          <p:cNvSpPr/>
          <p:nvPr/>
        </p:nvSpPr>
        <p:spPr>
          <a:xfrm>
            <a:off x="0" y="6705600"/>
            <a:ext cx="18288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9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Définition de l’attaque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XSS : Cross-Site Scripting</a:t>
            </a:r>
          </a:p>
          <a:p>
            <a:r>
              <a:rPr lang="fr-CH" dirty="0"/>
              <a:t>L’attaquant utilise une plateforme web vulnérable pour y faire exécuter un code malicieux.</a:t>
            </a:r>
          </a:p>
          <a:p>
            <a:endParaRPr lang="fr-CH" dirty="0"/>
          </a:p>
          <a:p>
            <a:r>
              <a:rPr lang="fr-CH" dirty="0"/>
              <a:t>Pour :</a:t>
            </a:r>
          </a:p>
          <a:p>
            <a:pPr lvl="1"/>
            <a:r>
              <a:rPr lang="fr-CH" dirty="0"/>
              <a:t>Faire exécuter (automatiquement ou non) un script malveillant à d’autres visiteurs.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D3570CFB-99F0-D4CA-DB7C-594B3E98D369}"/>
              </a:ext>
            </a:extLst>
          </p:cNvPr>
          <p:cNvSpPr/>
          <p:nvPr/>
        </p:nvSpPr>
        <p:spPr>
          <a:xfrm>
            <a:off x="0" y="6705600"/>
            <a:ext cx="24384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583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Localiser une faille 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1500" cy="4351338"/>
          </a:xfrm>
        </p:spPr>
        <p:txBody>
          <a:bodyPr/>
          <a:lstStyle/>
          <a:p>
            <a:r>
              <a:rPr lang="fr-CH" dirty="0"/>
              <a:t>Pour trouver une faille XSS, on cherche à :</a:t>
            </a:r>
          </a:p>
          <a:p>
            <a:endParaRPr lang="fr-CH" dirty="0"/>
          </a:p>
          <a:p>
            <a:pPr lvl="1"/>
            <a:r>
              <a:rPr lang="fr-CH" dirty="0"/>
              <a:t>Observer et comprendre ce qu’un utilisateur peut soumettre au serveur :</a:t>
            </a:r>
          </a:p>
          <a:p>
            <a:pPr lvl="2"/>
            <a:r>
              <a:rPr lang="fr-CH" dirty="0"/>
              <a:t>Paramètres HTTP</a:t>
            </a:r>
          </a:p>
          <a:p>
            <a:pPr lvl="2"/>
            <a:r>
              <a:rPr lang="fr-CH" dirty="0"/>
              <a:t>Champs de formulaire</a:t>
            </a:r>
          </a:p>
          <a:p>
            <a:pPr lvl="2"/>
            <a:r>
              <a:rPr lang="fr-CH" dirty="0"/>
              <a:t>Cookies</a:t>
            </a:r>
          </a:p>
          <a:p>
            <a:pPr lvl="2"/>
            <a:endParaRPr lang="fr-CH" dirty="0"/>
          </a:p>
          <a:p>
            <a:pPr lvl="1"/>
            <a:r>
              <a:rPr lang="fr-CH" dirty="0"/>
              <a:t>Comment ce code peut être </a:t>
            </a:r>
            <a:r>
              <a:rPr lang="fr-CH" dirty="0" err="1"/>
              <a:t>ré-exposé</a:t>
            </a:r>
            <a:r>
              <a:rPr lang="fr-CH" dirty="0"/>
              <a:t> à l’utilisateur (celui-ci ou un autre) par son client </a:t>
            </a:r>
          </a:p>
          <a:p>
            <a:pPr lvl="2"/>
            <a:r>
              <a:rPr lang="fr-CH" dirty="0"/>
              <a:t>Compréhension côté serveur</a:t>
            </a:r>
          </a:p>
          <a:p>
            <a:pPr lvl="2"/>
            <a:r>
              <a:rPr lang="fr-CH" dirty="0"/>
              <a:t>Observation des réponses retournées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951D7A88-EE77-8E85-B253-F62BA6DCE77C}"/>
              </a:ext>
            </a:extLst>
          </p:cNvPr>
          <p:cNvSpPr/>
          <p:nvPr/>
        </p:nvSpPr>
        <p:spPr>
          <a:xfrm>
            <a:off x="0" y="6705600"/>
            <a:ext cx="3048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4052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Variations de XSS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Avec stockage (</a:t>
            </a:r>
            <a:r>
              <a:rPr lang="fr-CH" i="1" dirty="0" err="1"/>
              <a:t>stored</a:t>
            </a:r>
            <a:r>
              <a:rPr lang="fr-CH" i="1" dirty="0"/>
              <a:t>)</a:t>
            </a:r>
            <a:endParaRPr lang="fr-CH" dirty="0"/>
          </a:p>
          <a:p>
            <a:r>
              <a:rPr lang="fr-CH" dirty="0"/>
              <a:t>Réfléchie (</a:t>
            </a:r>
            <a:r>
              <a:rPr lang="fr-CH" i="1" dirty="0" err="1"/>
              <a:t>reflected</a:t>
            </a:r>
            <a:r>
              <a:rPr lang="fr-CH" dirty="0"/>
              <a:t>)</a:t>
            </a:r>
          </a:p>
          <a:p>
            <a:r>
              <a:rPr lang="fr-CH" dirty="0"/>
              <a:t>DOM-</a:t>
            </a:r>
            <a:r>
              <a:rPr lang="fr-CH" dirty="0" err="1"/>
              <a:t>based</a:t>
            </a: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8638A893-98D9-6E31-2879-09761ACC7902}"/>
              </a:ext>
            </a:extLst>
          </p:cNvPr>
          <p:cNvSpPr/>
          <p:nvPr/>
        </p:nvSpPr>
        <p:spPr>
          <a:xfrm>
            <a:off x="0" y="6705600"/>
            <a:ext cx="36576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634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Avec stockage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BCACC1-0BDE-06E5-D82F-CEC10117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4200"/>
          </a:xfrm>
        </p:spPr>
        <p:txBody>
          <a:bodyPr/>
          <a:lstStyle/>
          <a:p>
            <a:pPr marL="457200" lvl="1" indent="0">
              <a:buNone/>
            </a:pPr>
            <a:r>
              <a:rPr lang="fr-CH" dirty="0"/>
              <a:t>Quels supports de stockage connaissez-vous pour alimenter votre application web ?</a:t>
            </a:r>
          </a:p>
        </p:txBody>
      </p:sp>
      <p:sp>
        <p:nvSpPr>
          <p:cNvPr id="17" name="PB">
            <a:extLst>
              <a:ext uri="{FF2B5EF4-FFF2-40B4-BE49-F238E27FC236}">
                <a16:creationId xmlns:a16="http://schemas.microsoft.com/office/drawing/2014/main" id="{E377EF55-EFD8-36CF-7A28-0FFFD0167CC3}"/>
              </a:ext>
            </a:extLst>
          </p:cNvPr>
          <p:cNvSpPr/>
          <p:nvPr/>
        </p:nvSpPr>
        <p:spPr>
          <a:xfrm>
            <a:off x="0" y="6705600"/>
            <a:ext cx="42672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985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Avec stockage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0507" y="2458928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5362553" y="4106188"/>
            <a:ext cx="2352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Web 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411194" y="4391553"/>
            <a:ext cx="2054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Attaquant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DB10E3-A390-8E2B-3AA3-25CBF36BDB1C}"/>
              </a:ext>
            </a:extLst>
          </p:cNvPr>
          <p:cNvCxnSpPr/>
          <p:nvPr/>
        </p:nvCxnSpPr>
        <p:spPr>
          <a:xfrm flipV="1">
            <a:off x="3289300" y="3187700"/>
            <a:ext cx="2301207" cy="44450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Document outline">
            <a:extLst>
              <a:ext uri="{FF2B5EF4-FFF2-40B4-BE49-F238E27FC236}">
                <a16:creationId xmlns:a16="http://schemas.microsoft.com/office/drawing/2014/main" id="{8C79798E-1BD8-1DD6-0527-11EFB19112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33681" y="1956594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73EE1C-14F0-0DC8-DD4D-91B5879809B5}"/>
              </a:ext>
            </a:extLst>
          </p:cNvPr>
          <p:cNvSpPr txBox="1"/>
          <p:nvPr/>
        </p:nvSpPr>
        <p:spPr>
          <a:xfrm>
            <a:off x="8999121" y="2697050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Fichier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BAB89-4896-CC28-7D21-A3ED21118506}"/>
              </a:ext>
            </a:extLst>
          </p:cNvPr>
          <p:cNvSpPr txBox="1"/>
          <p:nvPr/>
        </p:nvSpPr>
        <p:spPr>
          <a:xfrm>
            <a:off x="9381437" y="3374281"/>
            <a:ext cx="670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D741DB-8BB2-25B5-521F-3F6EE7ABCB70}"/>
              </a:ext>
            </a:extLst>
          </p:cNvPr>
          <p:cNvSpPr txBox="1"/>
          <p:nvPr/>
        </p:nvSpPr>
        <p:spPr>
          <a:xfrm>
            <a:off x="8012376" y="5355953"/>
            <a:ext cx="3357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Base de données</a:t>
            </a:r>
          </a:p>
        </p:txBody>
      </p:sp>
      <p:pic>
        <p:nvPicPr>
          <p:cNvPr id="18" name="Graphic 17" descr="Database outline">
            <a:extLst>
              <a:ext uri="{FF2B5EF4-FFF2-40B4-BE49-F238E27FC236}">
                <a16:creationId xmlns:a16="http://schemas.microsoft.com/office/drawing/2014/main" id="{B460AC63-ADE9-97BA-DC7C-145997267A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3680" y="4490440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1CF688-8D5E-24BF-6313-D7AD462B2FED}"/>
              </a:ext>
            </a:extLst>
          </p:cNvPr>
          <p:cNvCxnSpPr>
            <a:cxnSpLocks/>
          </p:cNvCxnSpPr>
          <p:nvPr/>
        </p:nvCxnSpPr>
        <p:spPr>
          <a:xfrm flipV="1">
            <a:off x="7346477" y="2578502"/>
            <a:ext cx="1601156" cy="633909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048304-B9C8-9B5A-59B3-86E9D794BD40}"/>
              </a:ext>
            </a:extLst>
          </p:cNvPr>
          <p:cNvCxnSpPr>
            <a:cxnSpLocks/>
          </p:cNvCxnSpPr>
          <p:nvPr/>
        </p:nvCxnSpPr>
        <p:spPr>
          <a:xfrm>
            <a:off x="7384576" y="3608944"/>
            <a:ext cx="1849104" cy="1274622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B">
            <a:extLst>
              <a:ext uri="{FF2B5EF4-FFF2-40B4-BE49-F238E27FC236}">
                <a16:creationId xmlns:a16="http://schemas.microsoft.com/office/drawing/2014/main" id="{CDA483B5-46DA-8A0C-CC2A-383F59E8787E}"/>
              </a:ext>
            </a:extLst>
          </p:cNvPr>
          <p:cNvSpPr/>
          <p:nvPr/>
        </p:nvSpPr>
        <p:spPr>
          <a:xfrm>
            <a:off x="0" y="6705600"/>
            <a:ext cx="48768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87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Avec stockage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94580-8484-FF61-2ADC-48D96787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fr-CH" b="1" dirty="0"/>
              <a:t>Qu'est-ce que c'est ?</a:t>
            </a:r>
            <a:endParaRPr lang="fr-CH" dirty="0"/>
          </a:p>
          <a:p>
            <a:pPr lvl="1"/>
            <a:r>
              <a:rPr lang="fr-CH" dirty="0"/>
              <a:t>L’attaquant va chercher à enregistrer dans votre base de données, le contenu d’un script avec ses balises &lt;script&gt; ou surcharger des éléments comme </a:t>
            </a:r>
            <a:r>
              <a:rPr lang="fr-CH" b="1" dirty="0" err="1"/>
              <a:t>onload</a:t>
            </a:r>
            <a:r>
              <a:rPr lang="fr-CH" b="1" dirty="0"/>
              <a:t> </a:t>
            </a:r>
            <a:r>
              <a:rPr lang="fr-CH" dirty="0"/>
              <a:t>ou </a:t>
            </a:r>
            <a:r>
              <a:rPr lang="fr-CH" b="1" dirty="0" err="1"/>
              <a:t>onerror</a:t>
            </a:r>
            <a:endParaRPr lang="fr-CH" dirty="0"/>
          </a:p>
          <a:p>
            <a:r>
              <a:rPr lang="fr-CH" b="1" dirty="0"/>
              <a:t>Risques potentiels</a:t>
            </a:r>
          </a:p>
          <a:p>
            <a:pPr lvl="1"/>
            <a:r>
              <a:rPr lang="fr-CH" dirty="0"/>
              <a:t>Injection de code JavaScript dans les données stockées</a:t>
            </a:r>
          </a:p>
          <a:p>
            <a:pPr lvl="1"/>
            <a:r>
              <a:rPr lang="fr-CH" dirty="0"/>
              <a:t>Exécution de scripts malveillants à chaque fois que les données sont affichées</a:t>
            </a:r>
          </a:p>
          <a:p>
            <a:pPr lvl="1"/>
            <a:r>
              <a:rPr lang="fr-CH" dirty="0"/>
              <a:t>Possibilité de compromettre l'intégrité et la confidentialité des données</a:t>
            </a:r>
            <a:endParaRPr lang="fr-CH" b="1" dirty="0"/>
          </a:p>
          <a:p>
            <a:r>
              <a:rPr lang="fr-CH" b="1" dirty="0"/>
              <a:t>Méthodes d'exploitation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b="1" dirty="0"/>
              <a:t>Écriture non protégée de texte</a:t>
            </a:r>
            <a:r>
              <a:rPr lang="fr-CH" dirty="0"/>
              <a:t> : Permet à l'attaquant d'enregistrer du contenu sans caractères d'échappement, facilitant ainsi l'injection de code malveillant.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b="1" dirty="0"/>
              <a:t>Remplacement du code DOM avec </a:t>
            </a:r>
            <a:r>
              <a:rPr lang="fr-CH" b="1" dirty="0" err="1"/>
              <a:t>innerHTML</a:t>
            </a:r>
            <a:r>
              <a:rPr lang="fr-CH" dirty="0"/>
              <a:t> : L'utilisation de .</a:t>
            </a:r>
            <a:r>
              <a:rPr lang="fr-CH" dirty="0" err="1"/>
              <a:t>innerHTML</a:t>
            </a:r>
            <a:r>
              <a:rPr lang="fr-CH" dirty="0"/>
              <a:t> pour mettre à jour le contenu du DOM peut permettre à l'attaquant de remplacer du code avec du contenu malveillant.</a:t>
            </a:r>
          </a:p>
          <a:p>
            <a:pPr marL="514350" indent="-514350">
              <a:buFont typeface="+mj-lt"/>
              <a:buAutoNum type="arabicPeriod"/>
            </a:pPr>
            <a:endParaRPr lang="fr-CH" dirty="0"/>
          </a:p>
        </p:txBody>
      </p:sp>
      <p:sp>
        <p:nvSpPr>
          <p:cNvPr id="23" name="PB">
            <a:extLst>
              <a:ext uri="{FF2B5EF4-FFF2-40B4-BE49-F238E27FC236}">
                <a16:creationId xmlns:a16="http://schemas.microsoft.com/office/drawing/2014/main" id="{21A7BC5F-89B4-CF9A-F70B-A3704BCB59F1}"/>
              </a:ext>
            </a:extLst>
          </p:cNvPr>
          <p:cNvSpPr/>
          <p:nvPr/>
        </p:nvSpPr>
        <p:spPr>
          <a:xfrm>
            <a:off x="0" y="6705600"/>
            <a:ext cx="54864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6249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Devinette : que signifie %20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10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94580-8484-FF61-2ADC-48D96787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H" dirty="0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0A9A7849-2705-67A8-51BC-CDA5924937F7}"/>
              </a:ext>
            </a:extLst>
          </p:cNvPr>
          <p:cNvSpPr/>
          <p:nvPr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3154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Les caractères échappés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94580-8484-FF61-2ADC-48D96787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fr-CH" dirty="0"/>
              <a:t>Modification de caractères ayant potentiellement un sens dans un langage de programmation </a:t>
            </a:r>
          </a:p>
          <a:p>
            <a:pPr>
              <a:buFontTx/>
              <a:buChar char="-"/>
            </a:pPr>
            <a:endParaRPr lang="fr-CH" dirty="0"/>
          </a:p>
          <a:p>
            <a:pPr>
              <a:buFontTx/>
              <a:buChar char="-"/>
            </a:pPr>
            <a:r>
              <a:rPr lang="fr-CH" dirty="0"/>
              <a:t>But : rendre inoffensif un caractère tel que &lt;, &gt;, ?, …</a:t>
            </a:r>
          </a:p>
          <a:p>
            <a:pPr>
              <a:buFontTx/>
              <a:buChar char="-"/>
            </a:pPr>
            <a:endParaRPr lang="fr-CH" dirty="0"/>
          </a:p>
          <a:p>
            <a:pPr>
              <a:buFontTx/>
              <a:buChar char="-"/>
            </a:pPr>
            <a:r>
              <a:rPr lang="fr-CH" dirty="0"/>
              <a:t>% : symbole d’échappement qui permet au navigateur de comprendre le caractère à transmettre</a:t>
            </a:r>
          </a:p>
          <a:p>
            <a:pPr>
              <a:buFontTx/>
              <a:buChar char="-"/>
            </a:pPr>
            <a:r>
              <a:rPr lang="fr-CH" dirty="0"/>
              <a:t>% est suivi du code ASCII (par exemple 20 = espace)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91D98537-A8CA-95D7-66C3-FC6AAD8B3BA6}"/>
              </a:ext>
            </a:extLst>
          </p:cNvPr>
          <p:cNvSpPr/>
          <p:nvPr/>
        </p:nvSpPr>
        <p:spPr>
          <a:xfrm>
            <a:off x="0" y="6705600"/>
            <a:ext cx="67056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31566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XSS réfléchie (surcharge http)</a:t>
            </a: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BCACC1-0BDE-06E5-D82F-CEC10117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4200"/>
          </a:xfrm>
        </p:spPr>
        <p:txBody>
          <a:bodyPr/>
          <a:lstStyle/>
          <a:p>
            <a:pPr marL="457200" lvl="1" indent="0">
              <a:buNone/>
            </a:pPr>
            <a:r>
              <a:rPr lang="fr-CH" dirty="0"/>
              <a:t>Quelle méthode connaissez-vous pour transmettre au serveur une donnée avec un lien ?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917E9108-78B3-5384-780A-C3480AC023C1}"/>
              </a:ext>
            </a:extLst>
          </p:cNvPr>
          <p:cNvSpPr/>
          <p:nvPr/>
        </p:nvSpPr>
        <p:spPr>
          <a:xfrm>
            <a:off x="0" y="6705600"/>
            <a:ext cx="73152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7219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0600" y="2653716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8867106" y="4316832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5661" y="3863976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113006" y="5265097"/>
            <a:ext cx="2719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Un utilisateur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>
            <a:cxnSpLocks/>
          </p:cNvCxnSpPr>
          <p:nvPr/>
        </p:nvCxnSpPr>
        <p:spPr>
          <a:xfrm flipV="1">
            <a:off x="3213100" y="3601982"/>
            <a:ext cx="5537200" cy="103801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 rot="20981650">
            <a:off x="3462852" y="3545029"/>
            <a:ext cx="5136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Requête http + </a:t>
            </a:r>
            <a:r>
              <a:rPr lang="fr-CH" sz="3600" dirty="0" err="1">
                <a:solidFill>
                  <a:schemeClr val="bg1"/>
                </a:solidFill>
              </a:rPr>
              <a:t>get</a:t>
            </a:r>
            <a:r>
              <a:rPr lang="fr-CH" sz="3600" dirty="0">
                <a:solidFill>
                  <a:schemeClr val="bg1"/>
                </a:solidFill>
              </a:rPr>
              <a:t> + script</a:t>
            </a:r>
          </a:p>
        </p:txBody>
      </p:sp>
      <p:pic>
        <p:nvPicPr>
          <p:cNvPr id="9" name="Graphic 8" descr="Detective male with solid fill">
            <a:extLst>
              <a:ext uri="{FF2B5EF4-FFF2-40B4-BE49-F238E27FC236}">
                <a16:creationId xmlns:a16="http://schemas.microsoft.com/office/drawing/2014/main" id="{72773E65-A612-5878-04EC-97B6B6CDA2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6678" y="1495482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38A3F1-0668-7DC7-8A97-5039D29121AC}"/>
              </a:ext>
            </a:extLst>
          </p:cNvPr>
          <p:cNvSpPr txBox="1"/>
          <p:nvPr/>
        </p:nvSpPr>
        <p:spPr>
          <a:xfrm>
            <a:off x="735051" y="2340229"/>
            <a:ext cx="1737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 err="1">
                <a:solidFill>
                  <a:srgbClr val="FF0000"/>
                </a:solidFill>
              </a:rPr>
              <a:t>Attacker</a:t>
            </a:r>
            <a:endParaRPr lang="fr-CH" sz="3600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747206-4A29-9272-54C5-84C00B57A2A8}"/>
              </a:ext>
            </a:extLst>
          </p:cNvPr>
          <p:cNvCxnSpPr>
            <a:cxnSpLocks/>
          </p:cNvCxnSpPr>
          <p:nvPr/>
        </p:nvCxnSpPr>
        <p:spPr>
          <a:xfrm>
            <a:off x="1731927" y="2986560"/>
            <a:ext cx="632000" cy="1134033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7C4D50-103B-CB45-8D3D-3FECC2F88EC6}"/>
              </a:ext>
            </a:extLst>
          </p:cNvPr>
          <p:cNvSpPr txBox="1"/>
          <p:nvPr/>
        </p:nvSpPr>
        <p:spPr>
          <a:xfrm rot="20981650">
            <a:off x="1968431" y="2767583"/>
            <a:ext cx="4334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dirty="0">
                <a:solidFill>
                  <a:schemeClr val="bg1"/>
                </a:solidFill>
              </a:rPr>
              <a:t>Forge un nouveau lien</a:t>
            </a:r>
          </a:p>
        </p:txBody>
      </p:sp>
      <p:sp>
        <p:nvSpPr>
          <p:cNvPr id="21" name="PB">
            <a:extLst>
              <a:ext uri="{FF2B5EF4-FFF2-40B4-BE49-F238E27FC236}">
                <a16:creationId xmlns:a16="http://schemas.microsoft.com/office/drawing/2014/main" id="{8E734EED-F329-0ABB-C9C0-B3D6F0C7C084}"/>
              </a:ext>
            </a:extLst>
          </p:cNvPr>
          <p:cNvSpPr/>
          <p:nvPr/>
        </p:nvSpPr>
        <p:spPr>
          <a:xfrm>
            <a:off x="0" y="6705600"/>
            <a:ext cx="79248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30031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Réfléchie (Ex : avec surcharge HTTP)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94580-8484-FF61-2ADC-48D96787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fr-CH" b="1" dirty="0"/>
              <a:t>Qu'est-ce que c'est ?</a:t>
            </a:r>
            <a:endParaRPr lang="fr-CH" dirty="0"/>
          </a:p>
          <a:p>
            <a:pPr lvl="1"/>
            <a:r>
              <a:rPr lang="fr-CH" dirty="0"/>
              <a:t>L’attaquant va chercher à injecter du code JavaScript malveillant dans les données transmises au serveur, souvent à travers des méthodes de transmission telles que les requêtes GET, POST, les en-têtes HTTP ou les cookies.</a:t>
            </a:r>
          </a:p>
          <a:p>
            <a:r>
              <a:rPr lang="fr-CH" b="1" dirty="0"/>
              <a:t>Risques potentiels</a:t>
            </a:r>
            <a:r>
              <a:rPr lang="fr-CH" dirty="0"/>
              <a:t>.</a:t>
            </a:r>
          </a:p>
          <a:p>
            <a:pPr lvl="1"/>
            <a:r>
              <a:rPr lang="fr-CH" dirty="0"/>
              <a:t>Déclencher un script embarqué dans le lien</a:t>
            </a:r>
          </a:p>
          <a:p>
            <a:pPr lvl="1"/>
            <a:r>
              <a:rPr lang="fr-CH" dirty="0"/>
              <a:t>Obtenir des cookies ou des sessions de l’utilisateur</a:t>
            </a:r>
          </a:p>
          <a:p>
            <a:r>
              <a:rPr lang="fr-CH" b="1" dirty="0"/>
              <a:t>Méthodes d'exploitation</a:t>
            </a:r>
            <a:endParaRPr lang="fr-CH" dirty="0"/>
          </a:p>
          <a:p>
            <a:pPr lvl="1">
              <a:buFont typeface="+mj-lt"/>
              <a:buAutoNum type="arabicPeriod"/>
            </a:pPr>
            <a:r>
              <a:rPr lang="fr-CH" b="1" dirty="0"/>
              <a:t>Écriture non protégée de texte :</a:t>
            </a:r>
            <a:r>
              <a:rPr lang="fr-CH" dirty="0"/>
              <a:t> Permet à l'attaquant d'enregistrer du contenu sans caractères d'échappement, facilitant ainsi l'injection de code malveillant.</a:t>
            </a:r>
          </a:p>
          <a:p>
            <a:pPr lvl="1">
              <a:buFont typeface="+mj-lt"/>
              <a:buAutoNum type="arabicPeriod"/>
            </a:pPr>
            <a:r>
              <a:rPr lang="fr-CH" b="1" dirty="0"/>
              <a:t>Remplacement du code DOM avec </a:t>
            </a:r>
            <a:r>
              <a:rPr lang="fr-CH" b="1" dirty="0" err="1"/>
              <a:t>innerHTML</a:t>
            </a:r>
            <a:r>
              <a:rPr lang="fr-CH" b="1" dirty="0"/>
              <a:t> </a:t>
            </a:r>
            <a:r>
              <a:rPr lang="fr-CH" dirty="0"/>
              <a:t>eut permettre à l'attaquant de remplacer du code avec du contenu malveillant.</a:t>
            </a:r>
          </a:p>
          <a:p>
            <a:pPr lvl="1">
              <a:buFont typeface="+mj-lt"/>
              <a:buAutoNum type="arabicPeriod"/>
            </a:pPr>
            <a:r>
              <a:rPr lang="fr-CH" b="1" dirty="0"/>
              <a:t>Redirection</a:t>
            </a:r>
          </a:p>
          <a:p>
            <a:endParaRPr lang="fr-CH" dirty="0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183F9E13-CF52-8D64-12C4-792D1B5A0D65}"/>
              </a:ext>
            </a:extLst>
          </p:cNvPr>
          <p:cNvSpPr/>
          <p:nvPr/>
        </p:nvSpPr>
        <p:spPr>
          <a:xfrm>
            <a:off x="0" y="6705600"/>
            <a:ext cx="85344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2771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Les contre-mesures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5261B838-EA35-2A09-F0AC-B202325C3ED3}"/>
              </a:ext>
            </a:extLst>
          </p:cNvPr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75911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Contre-mesure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94580-8484-FF61-2ADC-48D96787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CH" dirty="0"/>
              <a:t>Bonne pratique :</a:t>
            </a:r>
          </a:p>
          <a:p>
            <a:pPr>
              <a:buFontTx/>
              <a:buChar char="-"/>
            </a:pPr>
            <a:endParaRPr lang="fr-CH" dirty="0"/>
          </a:p>
          <a:p>
            <a:pPr lvl="1">
              <a:buFontTx/>
              <a:buChar char="-"/>
            </a:pPr>
            <a:r>
              <a:rPr lang="fr-CH" dirty="0"/>
              <a:t>Echapper </a:t>
            </a:r>
            <a:r>
              <a:rPr lang="fr-CH" b="1" dirty="0"/>
              <a:t>systématiquement</a:t>
            </a:r>
            <a:r>
              <a:rPr lang="fr-CH" dirty="0"/>
              <a:t> toutes les entrées (de formulaire ou de paramètres GET)</a:t>
            </a:r>
          </a:p>
          <a:p>
            <a:pPr>
              <a:buFontTx/>
              <a:buChar char="-"/>
            </a:pPr>
            <a:endParaRPr lang="fr-CH" dirty="0"/>
          </a:p>
          <a:p>
            <a:pPr lvl="1">
              <a:buFontTx/>
              <a:buChar char="-"/>
            </a:pPr>
            <a:r>
              <a:rPr lang="fr-CH" dirty="0"/>
              <a:t>Avec </a:t>
            </a:r>
            <a:r>
              <a:rPr lang="fr-CH" dirty="0" err="1"/>
              <a:t>npm</a:t>
            </a:r>
            <a:r>
              <a:rPr lang="fr-CH" dirty="0"/>
              <a:t> : on peut installer la librairie </a:t>
            </a:r>
            <a:r>
              <a:rPr lang="fr-CH" b="1" dirty="0"/>
              <a:t>escape-html</a:t>
            </a:r>
          </a:p>
          <a:p>
            <a:pPr lvl="1">
              <a:buFontTx/>
              <a:buChar char="-"/>
            </a:pPr>
            <a:r>
              <a:rPr lang="fr-CH" dirty="0"/>
              <a:t>Sinon, en </a:t>
            </a:r>
            <a:r>
              <a:rPr lang="fr-CH" dirty="0" err="1"/>
              <a:t>vanilla</a:t>
            </a:r>
            <a:r>
              <a:rPr lang="fr-CH" dirty="0"/>
              <a:t> JS : </a:t>
            </a:r>
            <a:r>
              <a:rPr lang="fr-CH" b="1" dirty="0" err="1"/>
              <a:t>string.escapeHTML</a:t>
            </a:r>
            <a:r>
              <a:rPr lang="fr-CH" b="1" dirty="0"/>
              <a:t>()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1E908E17-7BA2-3E14-9568-0EE671DCEB29}"/>
              </a:ext>
            </a:extLst>
          </p:cNvPr>
          <p:cNvSpPr/>
          <p:nvPr/>
        </p:nvSpPr>
        <p:spPr>
          <a:xfrm>
            <a:off x="0" y="6705600"/>
            <a:ext cx="97536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42246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Contre-mesure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94580-8484-FF61-2ADC-48D96787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CH" dirty="0"/>
              <a:t>Bonne pratique :</a:t>
            </a:r>
          </a:p>
          <a:p>
            <a:pPr>
              <a:buFontTx/>
              <a:buChar char="-"/>
            </a:pPr>
            <a:endParaRPr lang="fr-CH" dirty="0"/>
          </a:p>
          <a:p>
            <a:pPr lvl="1">
              <a:buFontTx/>
              <a:buChar char="-"/>
            </a:pPr>
            <a:r>
              <a:rPr lang="fr-CH" dirty="0"/>
              <a:t>Ne pas atteindre directement le code HTML avec </a:t>
            </a:r>
            <a:r>
              <a:rPr lang="fr-CH" dirty="0" err="1"/>
              <a:t>element.innerHTML</a:t>
            </a:r>
            <a:endParaRPr lang="fr-CH" dirty="0"/>
          </a:p>
          <a:p>
            <a:pPr lvl="1">
              <a:buFontTx/>
              <a:buChar char="-"/>
            </a:pPr>
            <a:endParaRPr lang="fr-CH" b="1" dirty="0"/>
          </a:p>
          <a:p>
            <a:pPr lvl="1">
              <a:buFontTx/>
              <a:buChar char="-"/>
            </a:pPr>
            <a:r>
              <a:rPr lang="fr-CH" b="1" dirty="0"/>
              <a:t>A la place :</a:t>
            </a:r>
          </a:p>
          <a:p>
            <a:pPr lvl="2">
              <a:buFontTx/>
              <a:buChar char="-"/>
            </a:pPr>
            <a:r>
              <a:rPr lang="fr-CH" dirty="0"/>
              <a:t>Utiliser </a:t>
            </a:r>
            <a:r>
              <a:rPr lang="fr-CH" dirty="0" err="1"/>
              <a:t>textContent</a:t>
            </a:r>
            <a:endParaRPr lang="fr-CH" dirty="0"/>
          </a:p>
          <a:p>
            <a:pPr lvl="2">
              <a:buFontTx/>
              <a:buChar char="-"/>
            </a:pPr>
            <a:r>
              <a:rPr lang="fr-CH" dirty="0"/>
              <a:t>Ou créer des </a:t>
            </a:r>
            <a:r>
              <a:rPr lang="fr-CH" dirty="0" err="1"/>
              <a:t>childItems</a:t>
            </a:r>
            <a:r>
              <a:rPr lang="fr-CH" dirty="0"/>
              <a:t> et les appondre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989A450A-D937-0418-D2F3-D69FEE023EB8}"/>
              </a:ext>
            </a:extLst>
          </p:cNvPr>
          <p:cNvSpPr/>
          <p:nvPr/>
        </p:nvSpPr>
        <p:spPr>
          <a:xfrm>
            <a:off x="0" y="6705600"/>
            <a:ext cx="103632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7447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Contre-mesure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10.12.2025</a:t>
            </a:fld>
            <a:endParaRPr lang="fr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94580-8484-FF61-2ADC-48D96787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CH" dirty="0"/>
              <a:t>Bonne pratique :</a:t>
            </a:r>
          </a:p>
          <a:p>
            <a:pPr>
              <a:buFontTx/>
              <a:buChar char="-"/>
            </a:pPr>
            <a:endParaRPr lang="fr-CH" dirty="0"/>
          </a:p>
          <a:p>
            <a:pPr lvl="1">
              <a:buFontTx/>
              <a:buChar char="-"/>
            </a:pPr>
            <a:r>
              <a:rPr lang="fr-CH" dirty="0"/>
              <a:t>Mettre en place un Content Security Policy (CSP)</a:t>
            </a:r>
          </a:p>
          <a:p>
            <a:pPr lvl="1">
              <a:buFontTx/>
              <a:buChar char="-"/>
            </a:pPr>
            <a:endParaRPr lang="fr-CH" b="1" dirty="0"/>
          </a:p>
          <a:p>
            <a:pPr lvl="1">
              <a:buFontTx/>
              <a:buChar char="-"/>
            </a:pPr>
            <a:r>
              <a:rPr lang="fr-CH" b="1" dirty="0"/>
              <a:t>Dans le code HTML (balise </a:t>
            </a:r>
            <a:r>
              <a:rPr lang="fr-CH" b="1" dirty="0" err="1"/>
              <a:t>meta</a:t>
            </a:r>
            <a:r>
              <a:rPr lang="fr-CH" b="1" dirty="0"/>
              <a:t>), exemple :</a:t>
            </a:r>
          </a:p>
          <a:p>
            <a:pPr lvl="2"/>
            <a:r>
              <a:rPr lang="fr-CH" dirty="0"/>
              <a:t>&lt;</a:t>
            </a:r>
            <a:r>
              <a:rPr lang="fr-CH" dirty="0" err="1"/>
              <a:t>meta</a:t>
            </a:r>
            <a:r>
              <a:rPr lang="fr-CH" dirty="0"/>
              <a:t> http-</a:t>
            </a:r>
            <a:r>
              <a:rPr lang="fr-CH" dirty="0" err="1"/>
              <a:t>equiv</a:t>
            </a:r>
            <a:r>
              <a:rPr lang="fr-CH" dirty="0"/>
              <a:t>="Content-Security-Policy" content="default-src 'self'"&gt;</a:t>
            </a:r>
          </a:p>
        </p:txBody>
      </p:sp>
      <p:sp>
        <p:nvSpPr>
          <p:cNvPr id="9" name="PB">
            <a:extLst>
              <a:ext uri="{FF2B5EF4-FFF2-40B4-BE49-F238E27FC236}">
                <a16:creationId xmlns:a16="http://schemas.microsoft.com/office/drawing/2014/main" id="{70107B8B-8ECA-2164-62AA-A949CAC52A22}"/>
              </a:ext>
            </a:extLst>
          </p:cNvPr>
          <p:cNvSpPr/>
          <p:nvPr/>
        </p:nvSpPr>
        <p:spPr>
          <a:xfrm>
            <a:off x="0" y="6705600"/>
            <a:ext cx="109728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23686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Activité 1 : Détecter et corriger deux sites vulnérables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/>
              <a:t>E-183-ALL-XSS.docx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E6D4C4B2-B490-EF3B-09E5-99ADEB28925C}"/>
              </a:ext>
            </a:extLst>
          </p:cNvPr>
          <p:cNvSpPr/>
          <p:nvPr/>
        </p:nvSpPr>
        <p:spPr>
          <a:xfrm>
            <a:off x="0" y="6705600"/>
            <a:ext cx="115824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83106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Conclusion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5D5900-BBD6-42DC-CCB5-147BADB52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753E6411-C75D-CBFD-0AD7-9E934178D233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99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D8083C-3C1C-4888-AB7E-D3C6C1B1DE24}">
  <ds:schemaRefs>
    <ds:schemaRef ds:uri="99ffe1f3-7857-457f-add0-5bdef636f38d"/>
    <ds:schemaRef ds:uri="be0d3259-a7ce-4623-88ec-81594dfcbc1c"/>
    <ds:schemaRef ds:uri="bf2f2df3-a963-4452-b0e7-67dabc627c35"/>
    <ds:schemaRef ds:uri="f7d9f5a6-831d-4621-8c77-cbcaf993e4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  <ds:schemaRef ds:uri="eb2b4dc0-5538-4988-a426-1e3bf3687743"/>
    <ds:schemaRef ds:uri="26488081-7094-48e3-a435-bbb366c5709a"/>
  </ds:schemaRefs>
</ds:datastoreItem>
</file>

<file path=customXml/itemProps2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5B315F-D2EE-4634-A07B-3FA9F162B7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1218</TotalTime>
  <Words>811</Words>
  <Application>Microsoft Office PowerPoint</Application>
  <PresentationFormat>Grand écran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Century Gothic</vt:lpstr>
      <vt:lpstr>Calibri</vt:lpstr>
      <vt:lpstr>Daytona Light</vt:lpstr>
      <vt:lpstr>Arial</vt:lpstr>
      <vt:lpstr>Helvetica</vt:lpstr>
      <vt:lpstr>Office Theme</vt:lpstr>
      <vt:lpstr>Cross-Site Scripting (XSS)</vt:lpstr>
      <vt:lpstr>Les objectifs</vt:lpstr>
      <vt:lpstr>LE PRINCIPE</vt:lpstr>
      <vt:lpstr>Définition de l’attaque</vt:lpstr>
      <vt:lpstr>Localiser une faille XSS</vt:lpstr>
      <vt:lpstr>Variations de XSS</vt:lpstr>
      <vt:lpstr>Avec stockage</vt:lpstr>
      <vt:lpstr>Avec stockage</vt:lpstr>
      <vt:lpstr>Avec stockage</vt:lpstr>
      <vt:lpstr>Devinette : que signifie %20 ?</vt:lpstr>
      <vt:lpstr>Les caractères échappés</vt:lpstr>
      <vt:lpstr>XSS réfléchie (surcharge http)</vt:lpstr>
      <vt:lpstr>Le principe</vt:lpstr>
      <vt:lpstr>Réfléchie (Ex : avec surcharge HTTP)</vt:lpstr>
      <vt:lpstr>Les contre-mesures</vt:lpstr>
      <vt:lpstr>Contre-mesure 1</vt:lpstr>
      <vt:lpstr>Contre-mesure 2</vt:lpstr>
      <vt:lpstr>Contre-mesure 3</vt:lpstr>
      <vt:lpstr>Activité 1 : Détecter et corriger deux sites vulnérables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Jonathan Melly</cp:lastModifiedBy>
  <cp:revision>2</cp:revision>
  <dcterms:created xsi:type="dcterms:W3CDTF">2023-07-10T11:31:25Z</dcterms:created>
  <dcterms:modified xsi:type="dcterms:W3CDTF">2025-12-10T13:15:50Z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